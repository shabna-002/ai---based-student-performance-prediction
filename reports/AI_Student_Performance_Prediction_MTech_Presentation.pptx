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899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3400" b="1"/>
            </a:pPr>
            <a:r>
              <a:t>AI-Based Student Performance Prediction</a:t>
            </a:r>
          </a:p>
          <a:p>
            <a:pPr algn="ctr">
              <a:spcAft>
                <a:spcPts val="800"/>
              </a:spcAft>
              <a:defRPr sz="2800" b="1"/>
            </a:pPr>
            <a:r>
              <a:t>and Database Management System</a:t>
            </a:r>
          </a:p>
          <a:p>
            <a:pPr algn="ctr">
              <a:spcAft>
                <a:spcPts val="800"/>
              </a:spcAft>
              <a:defRPr sz="2000" b="0"/>
            </a:pPr>
            <a:r>
              <a:t>M.Tech CSE Project Presentation</a:t>
            </a:r>
          </a:p>
          <a:p>
            <a:pPr algn="ctr">
              <a:spcAft>
                <a:spcPts val="800"/>
              </a:spcAft>
              <a:defRPr sz="1800" b="0"/>
            </a:pPr>
            <a:r>
              <a:t>Python • Flask • MySQL •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Educational institutions generate large amounts of student academic data.</a:t>
            </a:r>
          </a:p>
          <a:p>
            <a:pPr>
              <a:spcAft>
                <a:spcPts val="1000"/>
              </a:spcAft>
              <a:defRPr sz="1900"/>
            </a:pPr>
            <a:r>
              <a:t>Manual analysis makes it difficult to identify weak students early.</a:t>
            </a:r>
          </a:p>
          <a:p>
            <a:pPr>
              <a:spcAft>
                <a:spcPts val="1000"/>
              </a:spcAft>
              <a:defRPr sz="1900"/>
            </a:pPr>
            <a:r>
              <a:t>Machine Learning can discover patterns in attendance, marks and previous performance.</a:t>
            </a:r>
          </a:p>
          <a:p>
            <a:pPr>
              <a:spcAft>
                <a:spcPts val="1000"/>
              </a:spcAft>
              <a:defRPr sz="1900"/>
            </a:pPr>
            <a:r>
              <a:t>The proposed system integrates an academic database with an ML prediction module.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Existing academic systems mainly store marks and attendance.</a:t>
            </a:r>
          </a:p>
          <a:p>
            <a:pPr>
              <a:spcAft>
                <a:spcPts val="1000"/>
              </a:spcAft>
              <a:defRPr sz="1900"/>
            </a:pPr>
            <a:r>
              <a:t>They provide limited predictive analysis.</a:t>
            </a:r>
          </a:p>
          <a:p>
            <a:pPr>
              <a:spcAft>
                <a:spcPts val="1000"/>
              </a:spcAft>
              <a:defRPr sz="1900"/>
            </a:pPr>
            <a:r>
              <a:t>Faculty may not identify students at risk until examinations.</a:t>
            </a:r>
          </a:p>
          <a:p>
            <a:pPr>
              <a:spcAft>
                <a:spcPts val="1000"/>
              </a:spcAft>
              <a:defRPr sz="1900"/>
            </a:pPr>
            <a:r>
              <a:t>A unified system is required to store data and predict performance automatically.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Design a centralized student performance database.</a:t>
            </a:r>
          </a:p>
          <a:p>
            <a:pPr>
              <a:spcAft>
                <a:spcPts val="1000"/>
              </a:spcAft>
              <a:defRPr sz="1900"/>
            </a:pPr>
            <a:r>
              <a:t>Manage student, subject, attendance and marks information.</a:t>
            </a:r>
          </a:p>
          <a:p>
            <a:pPr>
              <a:spcAft>
                <a:spcPts val="1000"/>
              </a:spcAft>
              <a:defRPr sz="1900"/>
            </a:pPr>
            <a:r>
              <a:t>Train ML models to classify expected performance.</a:t>
            </a:r>
          </a:p>
          <a:p>
            <a:pPr>
              <a:spcAft>
                <a:spcPts val="1000"/>
              </a:spcAft>
              <a:defRPr sz="1900"/>
            </a:pPr>
            <a:r>
              <a:t>Compare Logistic Regression, Decision Tree and Random Forest.</a:t>
            </a:r>
          </a:p>
          <a:p>
            <a:pPr>
              <a:spcAft>
                <a:spcPts val="1000"/>
              </a:spcAft>
              <a:defRPr sz="1900"/>
            </a:pPr>
            <a:r>
              <a:t>Provide a simple Flask web interface for prediction and reporting.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Web-based application built with Flask.</a:t>
            </a:r>
          </a:p>
          <a:p>
            <a:pPr>
              <a:spcAft>
                <a:spcPts val="1000"/>
              </a:spcAft>
              <a:defRPr sz="1900"/>
            </a:pPr>
            <a:r>
              <a:t>MySQL stores student and academic records.</a:t>
            </a:r>
          </a:p>
          <a:p>
            <a:pPr>
              <a:spcAft>
                <a:spcPts val="1000"/>
              </a:spcAft>
              <a:defRPr sz="1900"/>
            </a:pPr>
            <a:r>
              <a:t>Python/scikit-learn performs preprocessing and prediction.</a:t>
            </a:r>
          </a:p>
          <a:p>
            <a:pPr>
              <a:spcAft>
                <a:spcPts val="1000"/>
              </a:spcAft>
              <a:defRPr sz="1900"/>
            </a:pPr>
            <a:r>
              <a:t>Prediction categories: High, Average and Low performance.</a:t>
            </a:r>
          </a:p>
          <a:p>
            <a:pPr>
              <a:spcAft>
                <a:spcPts val="1000"/>
              </a:spcAft>
              <a:defRPr sz="1900"/>
            </a:pPr>
            <a:r>
              <a:t>Prediction history is stored for future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System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Admin Login and Authentication</a:t>
            </a:r>
          </a:p>
          <a:p>
            <a:pPr>
              <a:spcAft>
                <a:spcPts val="1000"/>
              </a:spcAft>
              <a:defRPr sz="1900"/>
            </a:pPr>
            <a:r>
              <a:t>Student Management</a:t>
            </a:r>
          </a:p>
          <a:p>
            <a:pPr>
              <a:spcAft>
                <a:spcPts val="1000"/>
              </a:spcAft>
              <a:defRPr sz="1900"/>
            </a:pPr>
            <a:r>
              <a:t>Subject Management</a:t>
            </a:r>
          </a:p>
          <a:p>
            <a:pPr>
              <a:spcAft>
                <a:spcPts val="1000"/>
              </a:spcAft>
              <a:defRPr sz="1900"/>
            </a:pPr>
            <a:r>
              <a:t>Attendance Management</a:t>
            </a:r>
          </a:p>
          <a:p>
            <a:pPr>
              <a:spcAft>
                <a:spcPts val="1000"/>
              </a:spcAft>
              <a:defRPr sz="1900"/>
            </a:pPr>
            <a:r>
              <a:t>Marks and Performance Management</a:t>
            </a:r>
          </a:p>
          <a:p>
            <a:pPr>
              <a:spcAft>
                <a:spcPts val="1000"/>
              </a:spcAft>
              <a:defRPr sz="1900"/>
            </a:pPr>
            <a:r>
              <a:t>Machine Learning Prediction</a:t>
            </a:r>
          </a:p>
          <a:p>
            <a:pPr>
              <a:spcAft>
                <a:spcPts val="1000"/>
              </a:spcAft>
              <a:defRPr sz="1900"/>
            </a:pPr>
            <a:r>
              <a:t>Prediction History and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Frontend: HTML, CSS and web forms</a:t>
            </a:r>
          </a:p>
          <a:p>
            <a:pPr>
              <a:spcAft>
                <a:spcPts val="1000"/>
              </a:spcAft>
              <a:defRPr sz="1900"/>
            </a:pPr>
            <a:r>
              <a:t>Backend: Python + Flask</a:t>
            </a:r>
          </a:p>
          <a:p>
            <a:pPr>
              <a:spcAft>
                <a:spcPts val="1000"/>
              </a:spcAft>
              <a:defRPr sz="1900"/>
            </a:pPr>
            <a:r>
              <a:t>Database: MySQL</a:t>
            </a:r>
          </a:p>
          <a:p>
            <a:pPr>
              <a:spcAft>
                <a:spcPts val="1000"/>
              </a:spcAft>
              <a:defRPr sz="1900"/>
            </a:pPr>
            <a:r>
              <a:t>ML: Pandas, NumPy and scikit-learn</a:t>
            </a:r>
          </a:p>
          <a:p>
            <a:pPr>
              <a:spcAft>
                <a:spcPts val="1000"/>
              </a:spcAft>
              <a:defRPr sz="1900"/>
            </a:pPr>
            <a:r>
              <a:t>Algorithms: Logistic Regression, Decision Tree, Random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User/Admin → Flask Web Interface</a:t>
            </a:r>
          </a:p>
          <a:p>
            <a:pPr>
              <a:spcAft>
                <a:spcPts val="1000"/>
              </a:spcAft>
              <a:defRPr sz="1900"/>
            </a:pPr>
            <a:r>
              <a:t>Flask Application → Authentication and Business Logic</a:t>
            </a:r>
          </a:p>
          <a:p>
            <a:pPr>
              <a:spcAft>
                <a:spcPts val="1000"/>
              </a:spcAft>
              <a:defRPr sz="1900"/>
            </a:pPr>
            <a:r>
              <a:t>Business Logic → MySQL Database</a:t>
            </a:r>
          </a:p>
          <a:p>
            <a:pPr>
              <a:spcAft>
                <a:spcPts val="1000"/>
              </a:spcAft>
              <a:defRPr sz="1900"/>
            </a:pPr>
            <a:r>
              <a:t>Prediction Module → Trained ML Model</a:t>
            </a:r>
          </a:p>
          <a:p>
            <a:pPr>
              <a:spcAft>
                <a:spcPts val="1000"/>
              </a:spcAft>
              <a:defRPr sz="1900"/>
            </a:pPr>
            <a:r>
              <a:t>ML Model → Performance Class + Probability</a:t>
            </a:r>
          </a:p>
          <a:p>
            <a:pPr>
              <a:spcAft>
                <a:spcPts val="1000"/>
              </a:spcAft>
              <a:defRPr sz="1900"/>
            </a:pPr>
            <a:r>
              <a:t>Prediction result → Database +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students: student details, department and semester</a:t>
            </a:r>
          </a:p>
          <a:p>
            <a:pPr>
              <a:spcAft>
                <a:spcPts val="1000"/>
              </a:spcAft>
              <a:defRPr sz="1900"/>
            </a:pPr>
            <a:r>
              <a:t>subjects: subject name and credits</a:t>
            </a:r>
          </a:p>
          <a:p>
            <a:pPr>
              <a:spcAft>
                <a:spcPts val="1000"/>
              </a:spcAft>
              <a:defRPr sz="1900"/>
            </a:pPr>
            <a:r>
              <a:t>attendance: attendance percentage</a:t>
            </a:r>
          </a:p>
          <a:p>
            <a:pPr>
              <a:spcAft>
                <a:spcPts val="1000"/>
              </a:spcAft>
              <a:defRPr sz="1900"/>
            </a:pPr>
            <a:r>
              <a:t>marks: internal, assignment and examination marks</a:t>
            </a:r>
          </a:p>
          <a:p>
            <a:pPr>
              <a:spcAft>
                <a:spcPts val="1000"/>
              </a:spcAft>
              <a:defRPr sz="1900"/>
            </a:pPr>
            <a:r>
              <a:t>performance: GPA and grade</a:t>
            </a:r>
          </a:p>
          <a:p>
            <a:pPr>
              <a:spcAft>
                <a:spcPts val="1000"/>
              </a:spcAft>
              <a:defRPr sz="1900"/>
            </a:pPr>
            <a:r>
              <a:t>predictions: predicted class, probability and timestamp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ER Relationship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Student 1 ────&lt; Attendance &gt;──── 1 Subject</a:t>
            </a:r>
          </a:p>
          <a:p>
            <a:pPr>
              <a:spcAft>
                <a:spcPts val="1000"/>
              </a:spcAft>
              <a:defRPr sz="1900"/>
            </a:pPr>
            <a:r>
              <a:t>Student 1 ────&lt; Marks &gt;────────── 1 Subject</a:t>
            </a:r>
          </a:p>
          <a:p>
            <a:pPr>
              <a:spcAft>
                <a:spcPts val="1000"/>
              </a:spcAft>
              <a:defRPr sz="1900"/>
            </a:pPr>
            <a:r>
              <a:t>Student 1 ────&lt; Performance</a:t>
            </a:r>
          </a:p>
          <a:p>
            <a:pPr>
              <a:spcAft>
                <a:spcPts val="1000"/>
              </a:spcAft>
              <a:defRPr sz="1900"/>
            </a:pPr>
            <a:r>
              <a:t>Student 1 ────&lt; Predictions</a:t>
            </a:r>
          </a:p>
          <a:p>
            <a:pPr>
              <a:spcAft>
                <a:spcPts val="1000"/>
              </a:spcAft>
              <a:defRPr sz="1900"/>
            </a:pPr>
            <a:r>
              <a:t>Foreign keys connect student_id and subject_id.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Machine Learning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Features: attendance, internal marks, assignment marks, GPA and failures.</a:t>
            </a:r>
          </a:p>
          <a:p>
            <a:pPr>
              <a:spcAft>
                <a:spcPts val="1000"/>
              </a:spcAft>
              <a:defRPr sz="1900"/>
            </a:pPr>
            <a:r>
              <a:t>Target variable: performance class.</a:t>
            </a:r>
          </a:p>
          <a:p>
            <a:pPr>
              <a:spcAft>
                <a:spcPts val="1000"/>
              </a:spcAft>
              <a:defRPr sz="1900"/>
            </a:pPr>
            <a:r>
              <a:t>The supplied package contains a synthetic demonstration dataset.</a:t>
            </a:r>
          </a:p>
          <a:p>
            <a:pPr>
              <a:spcAft>
                <a:spcPts val="1000"/>
              </a:spcAft>
              <a:defRPr sz="1900"/>
            </a:pPr>
            <a:r>
              <a:t>For final evaluation, use an approved real or institutional dataset.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Load dataset using Pandas.</a:t>
            </a:r>
          </a:p>
          <a:p>
            <a:pPr>
              <a:spcAft>
                <a:spcPts val="1000"/>
              </a:spcAft>
              <a:defRPr sz="1900"/>
            </a:pPr>
            <a:r>
              <a:t>Check missing values and data consistency.</a:t>
            </a:r>
          </a:p>
          <a:p>
            <a:pPr>
              <a:spcAft>
                <a:spcPts val="1000"/>
              </a:spcAft>
              <a:defRPr sz="1900"/>
            </a:pPr>
            <a:r>
              <a:t>Separate input features and target label.</a:t>
            </a:r>
          </a:p>
          <a:p>
            <a:pPr>
              <a:spcAft>
                <a:spcPts val="1000"/>
              </a:spcAft>
              <a:defRPr sz="1900"/>
            </a:pPr>
            <a:r>
              <a:t>Split data into training and testing sets.</a:t>
            </a:r>
          </a:p>
          <a:p>
            <a:pPr>
              <a:spcAft>
                <a:spcPts val="1000"/>
              </a:spcAft>
              <a:defRPr sz="1900"/>
            </a:pPr>
            <a:r>
              <a:t>Use stratification to preserve class distribution.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Algorithms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Logistic Regression – interpretable classification baseline.</a:t>
            </a:r>
          </a:p>
          <a:p>
            <a:pPr>
              <a:spcAft>
                <a:spcPts val="1000"/>
              </a:spcAft>
              <a:defRPr sz="1900"/>
            </a:pPr>
            <a:r>
              <a:t>Decision Tree – rule-based and easy to visualize.</a:t>
            </a:r>
          </a:p>
          <a:p>
            <a:pPr>
              <a:spcAft>
                <a:spcPts val="1000"/>
              </a:spcAft>
              <a:defRPr sz="1900"/>
            </a:pPr>
            <a:r>
              <a:t>Random Forest – ensemble of decision trees with strong generalization.</a:t>
            </a:r>
          </a:p>
          <a:p>
            <a:pPr>
              <a:spcAft>
                <a:spcPts val="1000"/>
              </a:spcAft>
              <a:defRPr sz="1900"/>
            </a:pPr>
            <a:r>
              <a:t>Select the best model using evaluation metrics.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Accuracy: proportion correctly classified.</a:t>
            </a:r>
          </a:p>
          <a:p>
            <a:pPr>
              <a:spcAft>
                <a:spcPts val="1000"/>
              </a:spcAft>
              <a:defRPr sz="1900"/>
            </a:pPr>
            <a:r>
              <a:t>Precision: correctness of positive predictions.</a:t>
            </a:r>
          </a:p>
          <a:p>
            <a:pPr>
              <a:spcAft>
                <a:spcPts val="1000"/>
              </a:spcAft>
              <a:defRPr sz="1900"/>
            </a:pPr>
            <a:r>
              <a:t>Recall: ability to identify relevant positive samples.</a:t>
            </a:r>
          </a:p>
          <a:p>
            <a:pPr>
              <a:spcAft>
                <a:spcPts val="1000"/>
              </a:spcAft>
              <a:defRPr sz="1900"/>
            </a:pPr>
            <a:r>
              <a:t>F1-score: harmonic mean of precision and recall.</a:t>
            </a:r>
          </a:p>
          <a:p>
            <a:pPr>
              <a:spcAft>
                <a:spcPts val="1000"/>
              </a:spcAft>
              <a:defRPr sz="1900"/>
            </a:pPr>
            <a:r>
              <a:t>Confusion matrix analyzes class-wise errors.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Prediction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1. User enters academic information.</a:t>
            </a:r>
          </a:p>
          <a:p>
            <a:pPr>
              <a:spcAft>
                <a:spcPts val="1000"/>
              </a:spcAft>
              <a:defRPr sz="1900"/>
            </a:pPr>
            <a:r>
              <a:t>2. Flask validates the input.</a:t>
            </a:r>
          </a:p>
          <a:p>
            <a:pPr>
              <a:spcAft>
                <a:spcPts val="1000"/>
              </a:spcAft>
              <a:defRPr sz="1900"/>
            </a:pPr>
            <a:r>
              <a:t>3. Saved ML model receives the feature vector.</a:t>
            </a:r>
          </a:p>
          <a:p>
            <a:pPr>
              <a:spcAft>
                <a:spcPts val="1000"/>
              </a:spcAft>
              <a:defRPr sz="1900"/>
            </a:pPr>
            <a:r>
              <a:t>4. Model predicts High / Average / Low performance.</a:t>
            </a:r>
          </a:p>
          <a:p>
            <a:pPr>
              <a:spcAft>
                <a:spcPts val="1000"/>
              </a:spcAft>
              <a:defRPr sz="1900"/>
            </a:pPr>
            <a:r>
              <a:t>5. Probability is displayed.</a:t>
            </a:r>
          </a:p>
          <a:p>
            <a:pPr>
              <a:spcAft>
                <a:spcPts val="1000"/>
              </a:spcAft>
              <a:defRPr sz="1900"/>
            </a:pPr>
            <a:r>
              <a:t>6. Result is stored in MySQL.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Web Application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Login page for administrator access.</a:t>
            </a:r>
          </a:p>
          <a:p>
            <a:pPr>
              <a:spcAft>
                <a:spcPts val="1000"/>
              </a:spcAft>
              <a:defRPr sz="1900"/>
            </a:pPr>
            <a:r>
              <a:t>Dashboard showing student and prediction information.</a:t>
            </a:r>
          </a:p>
          <a:p>
            <a:pPr>
              <a:spcAft>
                <a:spcPts val="1000"/>
              </a:spcAft>
              <a:defRPr sz="1900"/>
            </a:pPr>
            <a:r>
              <a:t>Student management page.</a:t>
            </a:r>
          </a:p>
          <a:p>
            <a:pPr>
              <a:spcAft>
                <a:spcPts val="1000"/>
              </a:spcAft>
              <a:defRPr sz="1900"/>
            </a:pPr>
            <a:r>
              <a:t>Prediction form for academic features.</a:t>
            </a:r>
          </a:p>
          <a:p>
            <a:pPr>
              <a:spcAft>
                <a:spcPts val="1000"/>
              </a:spcAft>
              <a:defRPr sz="1900"/>
            </a:pPr>
            <a:r>
              <a:t>Prediction result page with class and probability.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Admin authentication</a:t>
            </a:r>
          </a:p>
          <a:p>
            <a:pPr>
              <a:spcAft>
                <a:spcPts val="1000"/>
              </a:spcAft>
              <a:defRPr sz="1900"/>
            </a:pPr>
            <a:r>
              <a:t>Student record management</a:t>
            </a:r>
          </a:p>
          <a:p>
            <a:pPr>
              <a:spcAft>
                <a:spcPts val="1000"/>
              </a:spcAft>
              <a:defRPr sz="1900"/>
            </a:pPr>
            <a:r>
              <a:t>Attendance and marks storage</a:t>
            </a:r>
          </a:p>
          <a:p>
            <a:pPr>
              <a:spcAft>
                <a:spcPts val="1000"/>
              </a:spcAft>
              <a:defRPr sz="1900"/>
            </a:pPr>
            <a:r>
              <a:t>ML prediction</a:t>
            </a:r>
          </a:p>
          <a:p>
            <a:pPr>
              <a:spcAft>
                <a:spcPts val="1000"/>
              </a:spcAft>
              <a:defRPr sz="1900"/>
            </a:pPr>
            <a:r>
              <a:t>Prediction history</a:t>
            </a:r>
          </a:p>
          <a:p>
            <a:pPr>
              <a:spcAft>
                <a:spcPts val="1000"/>
              </a:spcAft>
              <a:defRPr sz="1900"/>
            </a:pPr>
            <a:r>
              <a:t>Performance-oriented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17. Non-Functional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Usability: simple web interface</a:t>
            </a:r>
          </a:p>
          <a:p>
            <a:pPr>
              <a:spcAft>
                <a:spcPts val="1000"/>
              </a:spcAft>
              <a:defRPr sz="1900"/>
            </a:pPr>
            <a:r>
              <a:t>Reliability: consistent database operations</a:t>
            </a:r>
          </a:p>
          <a:p>
            <a:pPr>
              <a:spcAft>
                <a:spcPts val="1000"/>
              </a:spcAft>
              <a:defRPr sz="1900"/>
            </a:pPr>
            <a:r>
              <a:t>Security: authenticated access</a:t>
            </a:r>
          </a:p>
          <a:p>
            <a:pPr>
              <a:spcAft>
                <a:spcPts val="1000"/>
              </a:spcAft>
              <a:defRPr sz="1900"/>
            </a:pPr>
            <a:r>
              <a:t>Performance: quick individual prediction</a:t>
            </a:r>
          </a:p>
          <a:p>
            <a:pPr>
              <a:spcAft>
                <a:spcPts val="1000"/>
              </a:spcAft>
              <a:defRPr sz="1900"/>
            </a:pPr>
            <a:r>
              <a:t>Maintainability: modular Flask and ML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18. Experimental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Train Logistic Regression, Decision Tree and Random Forest.</a:t>
            </a:r>
          </a:p>
          <a:p>
            <a:pPr>
              <a:spcAft>
                <a:spcPts val="1000"/>
              </a:spcAft>
              <a:defRPr sz="1900"/>
            </a:pPr>
            <a:r>
              <a:t>Evaluate using the held-out test set.</a:t>
            </a:r>
          </a:p>
          <a:p>
            <a:pPr>
              <a:spcAft>
                <a:spcPts val="1000"/>
              </a:spcAft>
              <a:defRPr sz="1900"/>
            </a:pPr>
            <a:r>
              <a:t>Record Accuracy, Precision, Recall and F1-score.</a:t>
            </a:r>
          </a:p>
          <a:p>
            <a:pPr>
              <a:spcAft>
                <a:spcPts val="1000"/>
              </a:spcAft>
              <a:defRPr sz="1900"/>
            </a:pPr>
            <a:r>
              <a:t>Use model_comparison.csv for final numerical results.</a:t>
            </a:r>
          </a:p>
          <a:p>
            <a:pPr>
              <a:spcAft>
                <a:spcPts val="1000"/>
              </a:spcAft>
              <a:defRPr sz="1900"/>
            </a:pPr>
            <a:r>
              <a:t>Do not report synthetic-data results as institutional findings.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19.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Early identification of students who may need support.</a:t>
            </a:r>
          </a:p>
          <a:p>
            <a:pPr>
              <a:spcAft>
                <a:spcPts val="1000"/>
              </a:spcAft>
              <a:defRPr sz="1900"/>
            </a:pPr>
            <a:r>
              <a:t>Centralized academic data management.</a:t>
            </a:r>
          </a:p>
          <a:p>
            <a:pPr>
              <a:spcAft>
                <a:spcPts val="1000"/>
              </a:spcAft>
              <a:defRPr sz="1900"/>
            </a:pPr>
            <a:r>
              <a:t>Automated prediction reduces manual analysis.</a:t>
            </a:r>
          </a:p>
          <a:p>
            <a:pPr>
              <a:spcAft>
                <a:spcPts val="1000"/>
              </a:spcAft>
              <a:defRPr sz="1900"/>
            </a:pPr>
            <a:r>
              <a:t>Prediction history supports monitoring.</a:t>
            </a:r>
          </a:p>
          <a:p>
            <a:pPr>
              <a:spcAft>
                <a:spcPts val="1000"/>
              </a:spcAft>
              <a:defRPr sz="1900"/>
            </a:pPr>
            <a:r>
              <a:t>Modular design allows additional algorithms and features.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20.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Prediction quality depends on dataset quality.</a:t>
            </a:r>
          </a:p>
          <a:p>
            <a:pPr>
              <a:spcAft>
                <a:spcPts val="1000"/>
              </a:spcAft>
              <a:defRPr sz="1900"/>
            </a:pPr>
            <a:r>
              <a:t>Synthetic demonstration data cannot establish institutional findings.</a:t>
            </a:r>
          </a:p>
          <a:p>
            <a:pPr>
              <a:spcAft>
                <a:spcPts val="1000"/>
              </a:spcAft>
              <a:defRPr sz="1900"/>
            </a:pPr>
            <a:r>
              <a:t>Current prototype uses a limited set of features.</a:t>
            </a:r>
          </a:p>
          <a:p>
            <a:pPr>
              <a:spcAft>
                <a:spcPts val="1000"/>
              </a:spcAft>
              <a:defRPr sz="1900"/>
            </a:pPr>
            <a:r>
              <a:t>Predictions should support—not replace—faculty judgment.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21.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Colleges and universities</a:t>
            </a:r>
          </a:p>
          <a:p>
            <a:pPr>
              <a:spcAft>
                <a:spcPts val="1000"/>
              </a:spcAft>
              <a:defRPr sz="1900"/>
            </a:pPr>
            <a:r>
              <a:t>Academic advising systems</a:t>
            </a:r>
          </a:p>
          <a:p>
            <a:pPr>
              <a:spcAft>
                <a:spcPts val="1000"/>
              </a:spcAft>
              <a:defRPr sz="1900"/>
            </a:pPr>
            <a:r>
              <a:t>Early-warning systems</a:t>
            </a:r>
          </a:p>
          <a:p>
            <a:pPr>
              <a:spcAft>
                <a:spcPts val="1000"/>
              </a:spcAft>
              <a:defRPr sz="1900"/>
            </a:pPr>
            <a:r>
              <a:t>Student mentoring and intervention programs</a:t>
            </a:r>
          </a:p>
          <a:p>
            <a:pPr>
              <a:spcAft>
                <a:spcPts val="1000"/>
              </a:spcAft>
              <a:defRPr sz="1900"/>
            </a:pPr>
            <a:r>
              <a:t>Performance analytics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22.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Use larger real-world institutional datasets.</a:t>
            </a:r>
          </a:p>
          <a:p>
            <a:pPr>
              <a:spcAft>
                <a:spcPts val="1000"/>
              </a:spcAft>
              <a:defRPr sz="1900"/>
            </a:pPr>
            <a:r>
              <a:t>Add explainable AI for prediction reasons.</a:t>
            </a:r>
          </a:p>
          <a:p>
            <a:pPr>
              <a:spcAft>
                <a:spcPts val="1000"/>
              </a:spcAft>
              <a:defRPr sz="1900"/>
            </a:pPr>
            <a:r>
              <a:t>Add deep learning and ensemble optimization.</a:t>
            </a:r>
          </a:p>
          <a:p>
            <a:pPr>
              <a:spcAft>
                <a:spcPts val="1000"/>
              </a:spcAft>
              <a:defRPr sz="1900"/>
            </a:pPr>
            <a:r>
              <a:t>Integrate email/SMS alerts for at-risk students.</a:t>
            </a:r>
          </a:p>
          <a:p>
            <a:pPr>
              <a:spcAft>
                <a:spcPts val="1000"/>
              </a:spcAft>
              <a:defRPr sz="1900"/>
            </a:pPr>
            <a:r>
              <a:t>Develop mobile and cloud versions.</a:t>
            </a:r>
          </a:p>
          <a:p>
            <a:pPr>
              <a:spcAft>
                <a:spcPts val="1000"/>
              </a:spcAft>
              <a:defRPr sz="1900"/>
            </a:pPr>
            <a:r>
              <a:t>Add semester-wise trend visualization.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23.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The project combines database management and machine learning.</a:t>
            </a:r>
          </a:p>
          <a:p>
            <a:pPr>
              <a:spcAft>
                <a:spcPts val="1000"/>
              </a:spcAft>
              <a:defRPr sz="1900"/>
            </a:pPr>
            <a:r>
              <a:t>Academic data can be stored and analyzed through one web application.</a:t>
            </a:r>
          </a:p>
          <a:p>
            <a:pPr>
              <a:spcAft>
                <a:spcPts val="1000"/>
              </a:spcAft>
              <a:defRPr sz="1900"/>
            </a:pPr>
            <a:r>
              <a:t>Multiple classifiers can be compared for performance prediction.</a:t>
            </a:r>
          </a:p>
          <a:p>
            <a:pPr>
              <a:spcAft>
                <a:spcPts val="1000"/>
              </a:spcAft>
              <a:defRPr sz="1900"/>
            </a:pPr>
            <a:r>
              <a:t>The system provides a foundation for early academic intervention.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24.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Breiman, L., “Random Forests,” Machine Learning, 2001.</a:t>
            </a:r>
          </a:p>
          <a:p>
            <a:pPr>
              <a:spcAft>
                <a:spcPts val="1000"/>
              </a:spcAft>
              <a:defRPr sz="1900"/>
            </a:pPr>
            <a:r>
              <a:t>Pedregosa et al., “Scikit-learn: Machine Learning in Python,” JMLR, 2011.</a:t>
            </a:r>
          </a:p>
          <a:p>
            <a:pPr>
              <a:spcAft>
                <a:spcPts val="1000"/>
              </a:spcAft>
              <a:defRPr sz="1900"/>
            </a:pPr>
            <a:r>
              <a:t>Cortez &amp; Silva, “Using Data Mining to Predict Secondary School Student Performance,” 2008.</a:t>
            </a:r>
          </a:p>
          <a:p>
            <a:pPr>
              <a:spcAft>
                <a:spcPts val="1000"/>
              </a:spcAft>
              <a:defRPr sz="1900"/>
            </a:pPr>
            <a:r>
              <a:t>Hastie, Tibshirani &amp; Friedman, The Elements of Statistical Learning.</a:t>
            </a:r>
          </a:p>
          <a:p>
            <a:pPr>
              <a:spcAft>
                <a:spcPts val="1000"/>
              </a:spcAft>
              <a:defRPr sz="1900"/>
            </a:pPr>
            <a:r>
              <a:t>McKinney, Python for Data Analysis.</a:t>
            </a:r>
          </a:p>
          <a:p>
            <a:pPr>
              <a:spcAft>
                <a:spcPts val="1000"/>
              </a:spcAft>
              <a:defRPr sz="1900"/>
            </a:pPr>
            <a:r>
              <a:t>Oracle, MySQL Reference Manual.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25. Demo / Viva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Run the Flask application.</a:t>
            </a:r>
          </a:p>
          <a:p>
            <a:pPr>
              <a:spcAft>
                <a:spcPts val="1000"/>
              </a:spcAft>
              <a:defRPr sz="1900"/>
            </a:pPr>
            <a:r>
              <a:t>Login using the demo administrator account.</a:t>
            </a:r>
          </a:p>
          <a:p>
            <a:pPr>
              <a:spcAft>
                <a:spcPts val="1000"/>
              </a:spcAft>
              <a:defRPr sz="1900"/>
            </a:pPr>
            <a:r>
              <a:t>Add or view student information.</a:t>
            </a:r>
          </a:p>
          <a:p>
            <a:pPr>
              <a:spcAft>
                <a:spcPts val="1000"/>
              </a:spcAft>
              <a:defRPr sz="1900"/>
            </a:pPr>
            <a:r>
              <a:t>Enter attendance, marks, GPA and failures.</a:t>
            </a:r>
          </a:p>
          <a:p>
            <a:pPr>
              <a:spcAft>
                <a:spcPts val="1000"/>
              </a:spcAft>
              <a:defRPr sz="1900"/>
            </a:pPr>
            <a:r>
              <a:t>Generate the predicted performance class.</a:t>
            </a:r>
          </a:p>
          <a:p>
            <a:pPr>
              <a:spcAft>
                <a:spcPts val="1000"/>
              </a:spcAft>
              <a:defRPr sz="1900"/>
            </a:pPr>
            <a:r>
              <a:t>Explain database tables, ML workflow and evaluation metrics.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Questions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AI Student Performance Prediction |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